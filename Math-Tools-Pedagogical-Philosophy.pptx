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D4AF37"/>
                </a:solidFill>
              </a:defRPr>
            </a:pPr>
            <a:r>
              <a:t>Teaching Math in the Browser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Pedagogical Philosophy of math-tools.org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E6E6EB"/>
                </a:solidFill>
              </a:defRPr>
            </a:pPr>
            <a:r>
              <a:t>Shelvean Kapita, Ph.D.</a:t>
            </a:r>
            <a:br/>
            <a:r>
              <a:t>Texas A&amp;M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Textbook pictures are static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Require imagination from readers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One example ≠ deep understanding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No feedback on "what if I change...?"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The Solution: Interactive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Real-time parameter adjustment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Generate lots of examples instantly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See abstract concepts in motion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Feedback loop: change → visualize → understand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Scope: 70+ Interactive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solidFill>
            <a:srgbClr val="E6E6EB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1800" b="1">
                <a:solidFill>
                  <a:srgbClr val="1A2744"/>
                </a:solidFill>
              </a:defRPr>
            </a:pPr>
            <a:r>
              <a:t>116,805 page views</a:t>
            </a:r>
            <a:br/>
            <a:r>
              <a:t>7,490 active users</a:t>
            </a:r>
            <a:br/>
            <a:r>
              <a:t>115 countries</a:t>
            </a:r>
            <a:br/>
            <a:r>
              <a:t>MIT licensed</a:t>
            </a:r>
            <a:br/>
            <a:r>
              <a:t>WCAG 2.1 AA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1645920"/>
            <a:ext cx="3931920" cy="4572000"/>
          </a:xfrm>
          <a:prstGeom prst="rect">
            <a:avLst/>
          </a:prstGeom>
          <a:solidFill>
            <a:srgbClr val="E6E6EB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1800" b="1">
                <a:solidFill>
                  <a:srgbClr val="1A2744"/>
                </a:solidFill>
              </a:defRPr>
            </a:pPr>
            <a:r>
              <a:t>Since Jan 2025</a:t>
            </a:r>
            <a:br/>
            <a:r>
              <a:t>Global audience</a:t>
            </a:r>
            <a:br/>
            <a:r>
              <a:t>Free, no installs</a:t>
            </a:r>
            <a:br/>
            <a:r>
              <a:t>Browser-native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Why It Matters: Math 308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Engineering students need tangible connections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Abstract PDEs → real mass-spring, heat flow, pendula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Nonlinear dynamics → control, stability, design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Interactive tools = active learning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Physical Examples: Oscillations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Mass-spring (horizontal &amp; vertical)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Coupled oscillators → normal modes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Forcing &amp; resonance → real frequency response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Damping (underdamped → overdamped)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D4AF37"/>
                </a:solidFill>
              </a:defRPr>
            </a:pPr>
            <a:r>
              <a:t>Examples: massspring.html · coupled.html · forcing.html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Physical Examples: Pendula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Simple pendulum → direction fields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Elastic pendulum → stretching meets gravity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Multi-pendulum → chaos emerges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Pendulum wave → beats &amp; synchronization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D4AF37"/>
                </a:solidFill>
              </a:defRPr>
            </a:pPr>
            <a:r>
              <a:t>Examples: pend.html · elastic_pendulum.html · pendulum_wave.html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Dynamical Systems &amp; Bifurcation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Phase portraits: nodes, spirals, saddles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Bifurcation: period-doubling cascade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Strange attractors: Lorenz, Rössler, Van der Pol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Nonlinear dynamics as unifying theme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D4AF37"/>
                </a:solidFill>
              </a:defRPr>
            </a:pPr>
            <a:r>
              <a:t>Examples: bifurcation.html · lorenzsystem.html · vanderpol.html · duffing.html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Linear Algebra: Geometry Over Computation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RREF: step-by-step with all pivot operations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SVD: how transformations stretch &amp; rotate spaces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Eigenvectors: invariant directions, diagonalization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Determinants: volume scaling, inverses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D4AF37"/>
                </a:solidFill>
              </a:defRPr>
            </a:pPr>
            <a:r>
              <a:t>Examples: rref.html · svd2d.html · eigenvalues-eigenvectors.html · detviz.html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Why JavaScript? The Web's Native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Every browser comes with a programming language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No plugins, no installation, no dependencies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Runs on phones, tablets, laptops, PCs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Instant updates (refresh = latest version)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Tech Stack: CDN-Powered Libraries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MathJax 3: math rendering + screen reader support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KaTeX: fast LaTeX rendering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D3.js, Plotly.js: interactive plotting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math.js: symbolic computation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All loaded from CDNs—no build step, no local install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Workflow: 2025 → 2026 with Claude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4AF37"/>
                </a:solidFill>
              </a:defRPr>
            </a:pPr>
            <a:r>
              <a:t>2025</a:t>
            </a:r>
            <a:br/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Prompt ChatGPT/Grok</a:t>
            </a:r>
            <a:br/>
            <a:r>
              <a:t>→ Copy JS</a:t>
            </a:r>
            <a:br/>
            <a:r>
              <a:t>→ Notepad++ test</a:t>
            </a:r>
            <a:br/>
            <a:r>
              <a:t>→ Iterate</a:t>
            </a:r>
            <a:br/>
            <a:r>
              <a:t>→ Git commit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4AF37"/>
                </a:solidFill>
              </a:defRPr>
            </a:pPr>
            <a:r>
              <a:t>2026</a:t>
            </a:r>
            <a:br/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Prompt Claude Code</a:t>
            </a:r>
            <a:br/>
            <a:r>
              <a:t>→ Agents commit to GitHub</a:t>
            </a:r>
            <a:br/>
            <a:r>
              <a:t>→ Change ALL files at once</a:t>
            </a:r>
            <a:br/>
            <a:r>
              <a:t>→ Accessibility sweep, design updates</a:t>
            </a:r>
            <a:br/>
            <a:r>
              <a:t>→ Iterate &amp; re-commit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Accessibility: WCAG 2.1 AA Across All 70+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ARIA labels on every interactive element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MathJax with assistive MathML (screen readers read math)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Keyboard navigation: no mouse required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High-contrast mode toggle, color-blind safe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Global Reach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"I think your work is just wonderful!"—Gilbert Strang, MIT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"Beautiful! Very elegant."—Steven Strogatz, Cornell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Provost OER Grant for Math 308 question bank (2026)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Freely available: open education for global equity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D4AF37"/>
                </a:solidFill>
              </a:defRPr>
            </a:pPr>
            <a:r>
              <a:t>Bring Scientific Computing to the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D4AF37"/>
                </a:solidFill>
              </a:defRPr>
            </a:pPr>
            <a:r>
              <a:t>math-tools.org</a:t>
            </a:r>
          </a:p>
          <a:p>
            <a:br/>
            <a:pPr algn="ctr">
              <a:spcBef>
                <a:spcPts val="1200"/>
              </a:spcBef>
              <a:defRPr sz="1600">
                <a:solidFill>
                  <a:srgbClr val="FFFFFF"/>
                </a:solidFill>
              </a:defRPr>
            </a:pPr>
            <a:r>
              <a:t>70+ interactive visualizations</a:t>
            </a:r>
            <a:br/>
            <a:r>
              <a:t>for Differential Equations, Linear Algebra &amp; more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